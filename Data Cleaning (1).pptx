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libri (MS)" charset="1" panose="020F0502020204030204"/>
      <p:regular r:id="rId35"/>
    </p:embeddedFont>
    <p:embeddedFont>
      <p:font typeface="Aptos Bold" charset="1" panose="020B0004020202020204"/>
      <p:regular r:id="rId36"/>
    </p:embeddedFont>
    <p:embeddedFont>
      <p:font typeface="Aptos" charset="1" panose="020B0004020202020204"/>
      <p:regular r:id="rId37"/>
    </p:embeddedFont>
    <p:embeddedFont>
      <p:font typeface="Consolas" charset="1" panose="020B0609020204030204"/>
      <p:regular r:id="rId38"/>
    </p:embeddedFont>
    <p:embeddedFont>
      <p:font typeface="Arial" charset="1" panose="020B0604020202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VAHXIfIRXaU.mp4" Type="http://schemas.openxmlformats.org/officeDocument/2006/relationships/video"/><Relationship Id="rId4" Target="../media/VAHXIfIRXaU.mp4" Type="http://schemas.microsoft.com/office/2007/relationships/media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image1.jp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63780" y="9665913"/>
            <a:ext cx="503453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036739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Presentation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9145" y="1708214"/>
            <a:ext cx="4476436" cy="1003573"/>
            <a:chOff x="0" y="0"/>
            <a:chExt cx="5968581" cy="1338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8619" cy="1338072"/>
            </a:xfrm>
            <a:custGeom>
              <a:avLst/>
              <a:gdLst/>
              <a:ahLst/>
              <a:cxnLst/>
              <a:rect r="r" b="b" t="t" l="l"/>
              <a:pathLst>
                <a:path h="1338072" w="5968619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5745607" y="0"/>
                  </a:lnTo>
                  <a:cubicBezTo>
                    <a:pt x="5868797" y="0"/>
                    <a:pt x="5968619" y="99822"/>
                    <a:pt x="5968619" y="223012"/>
                  </a:cubicBezTo>
                  <a:lnTo>
                    <a:pt x="5968619" y="1115060"/>
                  </a:lnTo>
                  <a:cubicBezTo>
                    <a:pt x="5968619" y="1238250"/>
                    <a:pt x="5868797" y="1338072"/>
                    <a:pt x="5745607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01381" y="1940004"/>
            <a:ext cx="3591973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SQL Questions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99832" y="1882854"/>
            <a:ext cx="997489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 analytical questions and answers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9145" y="3108341"/>
            <a:ext cx="4476436" cy="1003573"/>
            <a:chOff x="0" y="0"/>
            <a:chExt cx="5968581" cy="13380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8619" cy="1338072"/>
            </a:xfrm>
            <a:custGeom>
              <a:avLst/>
              <a:gdLst/>
              <a:ahLst/>
              <a:cxnLst/>
              <a:rect r="r" b="b" t="t" l="l"/>
              <a:pathLst>
                <a:path h="1338072" w="5968619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5745607" y="0"/>
                  </a:lnTo>
                  <a:cubicBezTo>
                    <a:pt x="5868797" y="0"/>
                    <a:pt x="5968619" y="99822"/>
                    <a:pt x="5968619" y="223012"/>
                  </a:cubicBezTo>
                  <a:lnTo>
                    <a:pt x="5968619" y="1115060"/>
                  </a:lnTo>
                  <a:cubicBezTo>
                    <a:pt x="5968619" y="1238250"/>
                    <a:pt x="5868797" y="1338072"/>
                    <a:pt x="5745607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01381" y="3340132"/>
            <a:ext cx="359197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Data Cleaning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99832" y="3340132"/>
            <a:ext cx="997489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03040"/>
                </a:solidFill>
                <a:latin typeface="Aptos"/>
                <a:ea typeface="Aptos"/>
                <a:cs typeface="Aptos"/>
                <a:sym typeface="Aptos"/>
              </a:rPr>
              <a:t>Data cleaning useing Python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59145" y="4508468"/>
            <a:ext cx="4476436" cy="1003573"/>
            <a:chOff x="0" y="0"/>
            <a:chExt cx="5968581" cy="13380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8619" cy="1338072"/>
            </a:xfrm>
            <a:custGeom>
              <a:avLst/>
              <a:gdLst/>
              <a:ahLst/>
              <a:cxnLst/>
              <a:rect r="r" b="b" t="t" l="l"/>
              <a:pathLst>
                <a:path h="1338072" w="5968619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5745607" y="0"/>
                  </a:lnTo>
                  <a:cubicBezTo>
                    <a:pt x="5868797" y="0"/>
                    <a:pt x="5968619" y="99822"/>
                    <a:pt x="5968619" y="223012"/>
                  </a:cubicBezTo>
                  <a:lnTo>
                    <a:pt x="5968619" y="1115060"/>
                  </a:lnTo>
                  <a:cubicBezTo>
                    <a:pt x="5968619" y="1238250"/>
                    <a:pt x="5868797" y="1338072"/>
                    <a:pt x="5745607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1381" y="4740259"/>
            <a:ext cx="359197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Data Modle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9832" y="4740259"/>
            <a:ext cx="997489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03040"/>
                </a:solidFill>
                <a:latin typeface="Aptos"/>
                <a:ea typeface="Aptos"/>
                <a:cs typeface="Aptos"/>
                <a:sym typeface="Aptos"/>
              </a:rPr>
              <a:t>Create Star schema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59145" y="5908596"/>
            <a:ext cx="4476436" cy="1003573"/>
            <a:chOff x="0" y="0"/>
            <a:chExt cx="5968581" cy="13380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68619" cy="1338072"/>
            </a:xfrm>
            <a:custGeom>
              <a:avLst/>
              <a:gdLst/>
              <a:ahLst/>
              <a:cxnLst/>
              <a:rect r="r" b="b" t="t" l="l"/>
              <a:pathLst>
                <a:path h="1338072" w="5968619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5745607" y="0"/>
                  </a:lnTo>
                  <a:cubicBezTo>
                    <a:pt x="5868797" y="0"/>
                    <a:pt x="5968619" y="99822"/>
                    <a:pt x="5968619" y="223012"/>
                  </a:cubicBezTo>
                  <a:lnTo>
                    <a:pt x="5968619" y="1115060"/>
                  </a:lnTo>
                  <a:cubicBezTo>
                    <a:pt x="5968619" y="1238250"/>
                    <a:pt x="5868797" y="1338072"/>
                    <a:pt x="5745607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601381" y="6140386"/>
            <a:ext cx="359197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PivotTable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99832" y="6140386"/>
            <a:ext cx="997489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03040"/>
                </a:solidFill>
                <a:latin typeface="Aptos"/>
                <a:ea typeface="Aptos"/>
                <a:cs typeface="Aptos"/>
                <a:sym typeface="Aptos"/>
              </a:rPr>
              <a:t>Conditional Formatting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9145" y="7308713"/>
            <a:ext cx="4476436" cy="1003573"/>
            <a:chOff x="0" y="0"/>
            <a:chExt cx="5968581" cy="13380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68619" cy="1338072"/>
            </a:xfrm>
            <a:custGeom>
              <a:avLst/>
              <a:gdLst/>
              <a:ahLst/>
              <a:cxnLst/>
              <a:rect r="r" b="b" t="t" l="l"/>
              <a:pathLst>
                <a:path h="1338072" w="5968619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5745607" y="0"/>
                  </a:lnTo>
                  <a:cubicBezTo>
                    <a:pt x="5868797" y="0"/>
                    <a:pt x="5968619" y="99822"/>
                    <a:pt x="5968619" y="223012"/>
                  </a:cubicBezTo>
                  <a:lnTo>
                    <a:pt x="5968619" y="1115060"/>
                  </a:lnTo>
                  <a:cubicBezTo>
                    <a:pt x="5968619" y="1238250"/>
                    <a:pt x="5868797" y="1338072"/>
                    <a:pt x="5745607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601381" y="7540514"/>
            <a:ext cx="359197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99832" y="7540514"/>
            <a:ext cx="997489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776">
                <a:solidFill>
                  <a:srgbClr val="203040"/>
                </a:solidFill>
                <a:latin typeface="Aptos"/>
                <a:ea typeface="Aptos"/>
                <a:cs typeface="Aptos"/>
                <a:sym typeface="Aptos"/>
              </a:rPr>
              <a:t>Create Dashoard useing power bi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13. Original Database Tables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1880" y="1845478"/>
            <a:ext cx="7942431" cy="768506"/>
            <a:chOff x="0" y="0"/>
            <a:chExt cx="10589908" cy="10246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94225" y="2059010"/>
            <a:ext cx="109814" cy="109814"/>
            <a:chOff x="0" y="0"/>
            <a:chExt cx="146418" cy="1464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8755" y="1949196"/>
            <a:ext cx="7474201" cy="712070"/>
            <a:chOff x="0" y="0"/>
            <a:chExt cx="9965601" cy="9494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semesters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54963" y="1845478"/>
            <a:ext cx="7942431" cy="768506"/>
            <a:chOff x="0" y="0"/>
            <a:chExt cx="10589908" cy="10246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27309" y="2059010"/>
            <a:ext cx="109814" cy="109814"/>
            <a:chOff x="0" y="0"/>
            <a:chExt cx="146418" cy="146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848" y="1949196"/>
            <a:ext cx="7474201" cy="712070"/>
            <a:chOff x="0" y="0"/>
            <a:chExt cx="9965601" cy="9494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rooms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1880" y="2763460"/>
            <a:ext cx="7942431" cy="768506"/>
            <a:chOff x="0" y="0"/>
            <a:chExt cx="10589908" cy="10246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94225" y="2976982"/>
            <a:ext cx="109814" cy="109814"/>
            <a:chOff x="0" y="0"/>
            <a:chExt cx="146418" cy="1464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8755" y="2867168"/>
            <a:ext cx="7474201" cy="712070"/>
            <a:chOff x="0" y="0"/>
            <a:chExt cx="9965601" cy="9494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scholarships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54963" y="2763460"/>
            <a:ext cx="7942431" cy="768506"/>
            <a:chOff x="0" y="0"/>
            <a:chExt cx="10589908" cy="10246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327309" y="2976982"/>
            <a:ext cx="109814" cy="109814"/>
            <a:chOff x="0" y="0"/>
            <a:chExt cx="146418" cy="1464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848" y="2867168"/>
            <a:ext cx="7474201" cy="712070"/>
            <a:chOff x="0" y="0"/>
            <a:chExt cx="9965601" cy="9494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departments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880" y="3681432"/>
            <a:ext cx="7942431" cy="768506"/>
            <a:chOff x="0" y="0"/>
            <a:chExt cx="10589908" cy="10246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94225" y="3894953"/>
            <a:ext cx="109814" cy="109814"/>
            <a:chOff x="0" y="0"/>
            <a:chExt cx="146418" cy="1464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68755" y="3785140"/>
            <a:ext cx="7474201" cy="712070"/>
            <a:chOff x="0" y="0"/>
            <a:chExt cx="9965601" cy="9494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faculty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54963" y="3681432"/>
            <a:ext cx="7942431" cy="768506"/>
            <a:chOff x="0" y="0"/>
            <a:chExt cx="10589908" cy="102467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27309" y="3894953"/>
            <a:ext cx="109814" cy="109814"/>
            <a:chOff x="0" y="0"/>
            <a:chExt cx="146418" cy="1464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01848" y="3785140"/>
            <a:ext cx="7474201" cy="712070"/>
            <a:chOff x="0" y="0"/>
            <a:chExt cx="9965601" cy="9494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students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1880" y="4599403"/>
            <a:ext cx="7942431" cy="768506"/>
            <a:chOff x="0" y="0"/>
            <a:chExt cx="10589908" cy="102467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94225" y="4812935"/>
            <a:ext cx="109814" cy="109814"/>
            <a:chOff x="0" y="0"/>
            <a:chExt cx="146418" cy="1464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68755" y="4703121"/>
            <a:ext cx="7474201" cy="712070"/>
            <a:chOff x="0" y="0"/>
            <a:chExt cx="9965601" cy="94942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courses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54963" y="4599403"/>
            <a:ext cx="7942431" cy="768506"/>
            <a:chOff x="0" y="0"/>
            <a:chExt cx="10589908" cy="102467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327309" y="4812935"/>
            <a:ext cx="109814" cy="109814"/>
            <a:chOff x="0" y="0"/>
            <a:chExt cx="146418" cy="14641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848" y="4703121"/>
            <a:ext cx="7474201" cy="712070"/>
            <a:chOff x="0" y="0"/>
            <a:chExt cx="9965601" cy="94942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course_prerequisites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21880" y="5517385"/>
            <a:ext cx="7942431" cy="768506"/>
            <a:chOff x="0" y="0"/>
            <a:chExt cx="10589908" cy="102467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94225" y="5730907"/>
            <a:ext cx="109814" cy="109814"/>
            <a:chOff x="0" y="0"/>
            <a:chExt cx="146418" cy="14641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68755" y="5621093"/>
            <a:ext cx="7474201" cy="712070"/>
            <a:chOff x="0" y="0"/>
            <a:chExt cx="9965601" cy="9494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sections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54963" y="5517385"/>
            <a:ext cx="7942431" cy="768506"/>
            <a:chOff x="0" y="0"/>
            <a:chExt cx="10589908" cy="102467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327309" y="5730907"/>
            <a:ext cx="109814" cy="109814"/>
            <a:chOff x="0" y="0"/>
            <a:chExt cx="146418" cy="14641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01848" y="5621093"/>
            <a:ext cx="7474201" cy="712070"/>
            <a:chOff x="0" y="0"/>
            <a:chExt cx="9965601" cy="94942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enrollments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21880" y="6435357"/>
            <a:ext cx="7942431" cy="768506"/>
            <a:chOff x="0" y="0"/>
            <a:chExt cx="10589908" cy="10246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94225" y="6648879"/>
            <a:ext cx="109814" cy="109814"/>
            <a:chOff x="0" y="0"/>
            <a:chExt cx="146418" cy="14641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468755" y="6539065"/>
            <a:ext cx="7474201" cy="712070"/>
            <a:chOff x="0" y="0"/>
            <a:chExt cx="9965601" cy="94942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student_scholarships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54963" y="6435357"/>
            <a:ext cx="7942431" cy="768506"/>
            <a:chOff x="0" y="0"/>
            <a:chExt cx="10589908" cy="102467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327309" y="6648879"/>
            <a:ext cx="109814" cy="109814"/>
            <a:chOff x="0" y="0"/>
            <a:chExt cx="146418" cy="14641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01848" y="6539065"/>
            <a:ext cx="7474201" cy="712070"/>
            <a:chOff x="0" y="0"/>
            <a:chExt cx="9965601" cy="94942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research_projects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21880" y="7353329"/>
            <a:ext cx="7942431" cy="768506"/>
            <a:chOff x="0" y="0"/>
            <a:chExt cx="10589908" cy="102467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94225" y="7566860"/>
            <a:ext cx="109814" cy="109814"/>
            <a:chOff x="0" y="0"/>
            <a:chExt cx="146418" cy="1464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68755" y="7457046"/>
            <a:ext cx="7474201" cy="712070"/>
            <a:chOff x="0" y="0"/>
            <a:chExt cx="9965601" cy="94942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publications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154963" y="7353329"/>
            <a:ext cx="7942431" cy="768506"/>
            <a:chOff x="0" y="0"/>
            <a:chExt cx="10589908" cy="102467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9327309" y="7566860"/>
            <a:ext cx="109814" cy="109814"/>
            <a:chOff x="0" y="0"/>
            <a:chExt cx="146418" cy="1464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01848" y="7457046"/>
            <a:ext cx="7474201" cy="712070"/>
            <a:chOff x="0" y="0"/>
            <a:chExt cx="9965601" cy="94942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project_members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21880" y="8271300"/>
            <a:ext cx="7942431" cy="768506"/>
            <a:chOff x="0" y="0"/>
            <a:chExt cx="10589908" cy="102467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94225" y="8484832"/>
            <a:ext cx="109814" cy="109814"/>
            <a:chOff x="0" y="0"/>
            <a:chExt cx="146418" cy="14641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68755" y="8375018"/>
            <a:ext cx="7474201" cy="712070"/>
            <a:chOff x="0" y="0"/>
            <a:chExt cx="9965601" cy="94942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grade_events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154963" y="8271300"/>
            <a:ext cx="7942431" cy="768506"/>
            <a:chOff x="0" y="0"/>
            <a:chExt cx="10589908" cy="102467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589895" cy="1024763"/>
            </a:xfrm>
            <a:custGeom>
              <a:avLst/>
              <a:gdLst/>
              <a:ahLst/>
              <a:cxnLst/>
              <a:rect r="r" b="b" t="t" l="l"/>
              <a:pathLst>
                <a:path h="1024763" w="1058989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419080" y="0"/>
                  </a:lnTo>
                  <a:cubicBezTo>
                    <a:pt x="10513441" y="0"/>
                    <a:pt x="10589895" y="76454"/>
                    <a:pt x="10589895" y="170815"/>
                  </a:cubicBezTo>
                  <a:lnTo>
                    <a:pt x="10589895" y="853948"/>
                  </a:lnTo>
                  <a:cubicBezTo>
                    <a:pt x="10589895" y="948309"/>
                    <a:pt x="10513441" y="1024763"/>
                    <a:pt x="10419080" y="1024763"/>
                  </a:cubicBezTo>
                  <a:lnTo>
                    <a:pt x="170815" y="1024763"/>
                  </a:lnTo>
                  <a:cubicBezTo>
                    <a:pt x="76454" y="1024636"/>
                    <a:pt x="0" y="948182"/>
                    <a:pt x="0" y="85394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327309" y="8484832"/>
            <a:ext cx="109814" cy="109814"/>
            <a:chOff x="0" y="0"/>
            <a:chExt cx="146418" cy="14641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848" y="8375018"/>
            <a:ext cx="7474201" cy="712070"/>
            <a:chOff x="0" y="0"/>
            <a:chExt cx="9965601" cy="94942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965602" cy="949432"/>
            </a:xfrm>
            <a:custGeom>
              <a:avLst/>
              <a:gdLst/>
              <a:ahLst/>
              <a:cxnLst/>
              <a:rect r="r" b="b" t="t" l="l"/>
              <a:pathLst>
                <a:path h="949432" w="9965602">
                  <a:moveTo>
                    <a:pt x="0" y="0"/>
                  </a:moveTo>
                  <a:lnTo>
                    <a:pt x="9965602" y="0"/>
                  </a:lnTo>
                  <a:lnTo>
                    <a:pt x="9965602" y="949432"/>
                  </a:lnTo>
                  <a:lnTo>
                    <a:pt x="0" y="949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22" r="0" b="-15452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9965601" cy="9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audit_log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3243" y="1433684"/>
            <a:ext cx="16418690" cy="8045386"/>
            <a:chOff x="0" y="0"/>
            <a:chExt cx="21891587" cy="107271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91625" cy="10727182"/>
            </a:xfrm>
            <a:custGeom>
              <a:avLst/>
              <a:gdLst/>
              <a:ahLst/>
              <a:cxnLst/>
              <a:rect r="r" b="b" t="t" l="l"/>
              <a:pathLst>
                <a:path h="10727182" w="21891625">
                  <a:moveTo>
                    <a:pt x="0" y="1787906"/>
                  </a:moveTo>
                  <a:cubicBezTo>
                    <a:pt x="0" y="800481"/>
                    <a:pt x="800481" y="0"/>
                    <a:pt x="1787906" y="0"/>
                  </a:cubicBezTo>
                  <a:lnTo>
                    <a:pt x="20103719" y="0"/>
                  </a:lnTo>
                  <a:cubicBezTo>
                    <a:pt x="21091144" y="0"/>
                    <a:pt x="21891625" y="800481"/>
                    <a:pt x="21891625" y="1787906"/>
                  </a:cubicBezTo>
                  <a:lnTo>
                    <a:pt x="21891625" y="8939276"/>
                  </a:lnTo>
                  <a:cubicBezTo>
                    <a:pt x="21891625" y="9926701"/>
                    <a:pt x="21091144" y="10727182"/>
                    <a:pt x="20103719" y="10727182"/>
                  </a:cubicBezTo>
                  <a:lnTo>
                    <a:pt x="1787906" y="10727182"/>
                  </a:lnTo>
                  <a:cubicBezTo>
                    <a:pt x="800481" y="10727182"/>
                    <a:pt x="0" y="9926701"/>
                    <a:pt x="0" y="893927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631101" y="1606029"/>
            <a:ext cx="11062964" cy="7700696"/>
            <a:chOff x="0" y="0"/>
            <a:chExt cx="14750618" cy="10267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50669" cy="10267569"/>
            </a:xfrm>
            <a:custGeom>
              <a:avLst/>
              <a:gdLst/>
              <a:ahLst/>
              <a:cxnLst/>
              <a:rect r="r" b="b" t="t" l="l"/>
              <a:pathLst>
                <a:path h="10267569" w="14750669">
                  <a:moveTo>
                    <a:pt x="0" y="0"/>
                  </a:moveTo>
                  <a:lnTo>
                    <a:pt x="14750669" y="0"/>
                  </a:lnTo>
                  <a:lnTo>
                    <a:pt x="14750669" y="10267569"/>
                  </a:lnTo>
                  <a:lnTo>
                    <a:pt x="0" y="10267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84" t="0" r="-498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Data Schema (1)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Power Query (1)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1433684"/>
            <a:ext cx="16418690" cy="8045386"/>
            <a:chOff x="0" y="0"/>
            <a:chExt cx="21891587" cy="107271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1625" cy="10727182"/>
            </a:xfrm>
            <a:custGeom>
              <a:avLst/>
              <a:gdLst/>
              <a:ahLst/>
              <a:cxnLst/>
              <a:rect r="r" b="b" t="t" l="l"/>
              <a:pathLst>
                <a:path h="10727182" w="21891625">
                  <a:moveTo>
                    <a:pt x="0" y="1787906"/>
                  </a:moveTo>
                  <a:cubicBezTo>
                    <a:pt x="0" y="800481"/>
                    <a:pt x="800481" y="0"/>
                    <a:pt x="1787906" y="0"/>
                  </a:cubicBezTo>
                  <a:lnTo>
                    <a:pt x="20103719" y="0"/>
                  </a:lnTo>
                  <a:cubicBezTo>
                    <a:pt x="21091144" y="0"/>
                    <a:pt x="21891625" y="800481"/>
                    <a:pt x="21891625" y="1787906"/>
                  </a:cubicBezTo>
                  <a:lnTo>
                    <a:pt x="21891625" y="8939276"/>
                  </a:lnTo>
                  <a:cubicBezTo>
                    <a:pt x="21891625" y="9926701"/>
                    <a:pt x="21091144" y="10727182"/>
                    <a:pt x="20103719" y="10727182"/>
                  </a:cubicBezTo>
                  <a:lnTo>
                    <a:pt x="1787906" y="10727182"/>
                  </a:lnTo>
                  <a:cubicBezTo>
                    <a:pt x="800481" y="10727182"/>
                    <a:pt x="0" y="9926701"/>
                    <a:pt x="0" y="893927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607359" y="1606029"/>
            <a:ext cx="5110458" cy="7700696"/>
            <a:chOff x="0" y="0"/>
            <a:chExt cx="6813944" cy="10267594"/>
          </a:xfrm>
        </p:grpSpPr>
        <p:sp>
          <p:nvSpPr>
            <p:cNvPr name="Freeform 11" id="11" descr="p-11_crop.png"/>
            <p:cNvSpPr/>
            <p:nvPr/>
          </p:nvSpPr>
          <p:spPr>
            <a:xfrm flipH="false" flipV="false" rot="0">
              <a:off x="0" y="0"/>
              <a:ext cx="6813931" cy="10267569"/>
            </a:xfrm>
            <a:custGeom>
              <a:avLst/>
              <a:gdLst/>
              <a:ahLst/>
              <a:cxnLst/>
              <a:rect r="r" b="b" t="t" l="l"/>
              <a:pathLst>
                <a:path h="10267569" w="6813931">
                  <a:moveTo>
                    <a:pt x="0" y="0"/>
                  </a:moveTo>
                  <a:lnTo>
                    <a:pt x="6813931" y="0"/>
                  </a:lnTo>
                  <a:lnTo>
                    <a:pt x="6813931" y="10267569"/>
                  </a:lnTo>
                  <a:lnTo>
                    <a:pt x="0" y="10267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Student Number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16217"/>
            <a:ext cx="1567148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2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COUNT(*) AS student_number</a:t>
            </a:r>
          </a:p>
          <a:p>
            <a:pPr algn="l">
              <a:lnSpc>
                <a:spcPts val="3841"/>
              </a:lnSpc>
            </a:pPr>
            <a:r>
              <a:rPr lang="en-US" sz="32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dbo.students AS S;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774" y="7831112"/>
            <a:ext cx="1874986" cy="34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2010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10822" y="7705715"/>
            <a:ext cx="375165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1"/>
            <a:chOff x="0" y="0"/>
            <a:chExt cx="21230666" cy="12811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59"/>
            </a:xfrm>
            <a:custGeom>
              <a:avLst/>
              <a:gdLst/>
              <a:ahLst/>
              <a:cxnLst/>
              <a:rect r="r" b="b" t="t" l="l"/>
              <a:pathLst>
                <a:path h="1281159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59"/>
                  </a:lnTo>
                  <a:lnTo>
                    <a:pt x="0" y="12811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5" r="0" b="-2728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230666" cy="1328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1"/>
                </a:lnSpc>
              </a:pPr>
              <a:r>
                <a:rPr lang="en-US" sz="19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2,000 students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Student Number in Each Department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04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18292" y="2184845"/>
            <a:ext cx="15671482" cy="2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D.name AS department_name,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COUNT(S.student_id) AS student_number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dbo.students AS S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dbo.departments AS D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S.department_id = D.department_id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D.name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student_number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774" y="7790549"/>
            <a:ext cx="2620994" cy="343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298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2686" y="774231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Biology 134 | Chemistry 134 | Computer Science 134 | Mathematics 134 | Physics 134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Psychology 133 | Sociology 133 | Medicine 133 | Nursing 133 | Philosophy 133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Economics 133 | English &amp; Literature 133 | Finance 133 | History 133 | Marketing 133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Average GPA for Students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AVG(S.gpa) AS average_gpa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dbo.students AS S;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Average GPA = 2.514840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Student Number by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S.status,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COUNT(*) AS student_number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dbo.students AS 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S.status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student_number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Active = 2,000 students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Course Number in Each Department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D.name AS department_name,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COUNT(C.course_id) AS course_number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dbo.courses AS C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dbo.departments AS 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C.department_id = D.department_id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D.name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course_number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Biology 14 | Chemistry 14 | Computer Science 14 | Mathematics 14 | Physics 14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Psychology 13 | Sociology 13 | Medicine 13 | Nursing 13 | Philosophy 13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Economics 13 | English &amp; Literature 13 | Finance 13 | History 13 | Marketing 13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6. Average Final Score for Each Course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C.title AS course_title,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AVG(E.final_score) AS average_final_score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dbo.enrollments AS 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dbo.sections AS SE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E.section_id = SE.section_id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dbo.courses AS C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SE.course_id = C.course_id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C.title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average_final_score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 2 - Programming = 80.002500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 3 - Statistics = 79.998950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 1 - Database Systems = 79.998875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 4 - Research Methods = NULL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7. Top 10 Scholarships by Student Number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TOP 10 SC.name AS scholarship_name,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COUNT(SS.student_id) AS student_number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dbo.scholarships AS SC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dbo.student_scholarships AS SS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SC.scholarship_id = SS.scholarship_id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SC.name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student_number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International Student Bursary 25 | Graduate Research Fellowship 25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First-Generation College Award 25 | Entrepreneurship Seed Award 25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Diversity &amp; Inclusion Scholarship 25 | Dean's List Scholarship 25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Science Innovation Award 25 | Community Leadership Award 25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Biomedical Research Grant 25 | Athletic Achievement Grant 25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8. Student Number by Enrollment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E.status,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COUNT(*) AS student_number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dbo.enrollments AS 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E.status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student_number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 Completed = 6,000 | Enrolled = 2,000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9. Average Final Score by Department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S.student_id,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S.first_name,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S.last_name,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SUM(SC.amount) AS total_scholarship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FROM dbo.students AS S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JOIN dbo.student_scholarships AS SS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ON S.student_id = SS.student_id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JOIN dbo.scholarships AS SC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ON SS.scholarship_id = SC.scholarship_id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GROUP BY S.student_id, S.first_name, S.last_name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ORDER BY total_scholarship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Mathematics = 80.002500 | Physics = 79.998950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Science = 79.998875 | Chemistry = NULL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469001"/>
            <a:ext cx="15191051" cy="72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10. Faculty with the Highest Number of Sections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845478"/>
            <a:ext cx="16487318" cy="6398181"/>
            <a:chOff x="0" y="0"/>
            <a:chExt cx="21983090" cy="8530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8530972"/>
            </a:xfrm>
            <a:custGeom>
              <a:avLst/>
              <a:gdLst/>
              <a:ahLst/>
              <a:cxnLst/>
              <a:rect r="r" b="b" t="t" l="l"/>
              <a:pathLst>
                <a:path h="8530972" w="21983192">
                  <a:moveTo>
                    <a:pt x="0" y="1421892"/>
                  </a:moveTo>
                  <a:cubicBezTo>
                    <a:pt x="0" y="636524"/>
                    <a:pt x="636524" y="0"/>
                    <a:pt x="1421892" y="0"/>
                  </a:cubicBezTo>
                  <a:lnTo>
                    <a:pt x="20561300" y="0"/>
                  </a:lnTo>
                  <a:cubicBezTo>
                    <a:pt x="21346540" y="0"/>
                    <a:pt x="21983192" y="636524"/>
                    <a:pt x="21983192" y="1421892"/>
                  </a:cubicBezTo>
                  <a:lnTo>
                    <a:pt x="21983192" y="7109079"/>
                  </a:lnTo>
                  <a:cubicBezTo>
                    <a:pt x="21983192" y="7894320"/>
                    <a:pt x="21346668" y="8530972"/>
                    <a:pt x="20561300" y="8530972"/>
                  </a:cubicBezTo>
                  <a:lnTo>
                    <a:pt x="1421892" y="8530972"/>
                  </a:lnTo>
                  <a:cubicBezTo>
                    <a:pt x="636524" y="8530844"/>
                    <a:pt x="0" y="7894320"/>
                    <a:pt x="0" y="7109079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853108"/>
            <a:ext cx="96088" cy="6382931"/>
            <a:chOff x="0" y="0"/>
            <a:chExt cx="128118" cy="851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8510524"/>
            </a:xfrm>
            <a:custGeom>
              <a:avLst/>
              <a:gdLst/>
              <a:ahLst/>
              <a:cxnLst/>
              <a:rect r="r" b="b" t="t" l="l"/>
              <a:pathLst>
                <a:path h="8510524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8510524"/>
                  </a:lnTo>
                  <a:lnTo>
                    <a:pt x="0" y="8510524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2135267"/>
            <a:ext cx="15671482" cy="584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SELECT TOP 10 F.faculty_id, F.first_name, F.last_name,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COUNT(SE.section_id) AS section_number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dbo.faculty AS F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 dbo.sections AS SE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 F.faculty_id = SE.faculty_id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GROUP BY F.faculty_id, F.first_name, F.last_name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ORDER BY section_number DESC;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40" y="8025146"/>
            <a:ext cx="1189796" cy="22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ANSWER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9087" y="7977521"/>
            <a:ext cx="14779247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Query result shown below.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0796" y="8155962"/>
            <a:ext cx="16494947" cy="1189653"/>
            <a:chOff x="0" y="0"/>
            <a:chExt cx="21993263" cy="1586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93352" cy="1586230"/>
            </a:xfrm>
            <a:custGeom>
              <a:avLst/>
              <a:gdLst/>
              <a:ahLst/>
              <a:cxnLst/>
              <a:rect r="r" b="b" t="t" l="l"/>
              <a:pathLst>
                <a:path h="1586230" w="21993352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21728937" y="0"/>
                  </a:lnTo>
                  <a:cubicBezTo>
                    <a:pt x="21874987" y="0"/>
                    <a:pt x="21993352" y="118364"/>
                    <a:pt x="21993352" y="264414"/>
                  </a:cubicBezTo>
                  <a:lnTo>
                    <a:pt x="21993352" y="1321816"/>
                  </a:lnTo>
                  <a:cubicBezTo>
                    <a:pt x="21993352" y="1467866"/>
                    <a:pt x="21874987" y="1586230"/>
                    <a:pt x="21728937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0EA49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6774" y="8277215"/>
            <a:ext cx="15923000" cy="960872"/>
            <a:chOff x="0" y="0"/>
            <a:chExt cx="21230666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30667" cy="1281161"/>
            </a:xfrm>
            <a:custGeom>
              <a:avLst/>
              <a:gdLst/>
              <a:ahLst/>
              <a:cxnLst/>
              <a:rect r="r" b="b" t="t" l="l"/>
              <a:pathLst>
                <a:path h="1281161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230666" cy="1300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RESULT: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Omar Faculty011 = 4 | Ahmed Faculty010 = 4 | Lina Faculty009 = 4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Adam Faculty008 = 4 | Hana Faculty007 = 4 | Youssef Faculty006 = 4 |</a:t>
              </a:r>
            </a:p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Nour Faculty005 = 4 | Ali Faculty004 = 4 | Sara Faculty003 = 4 | Mona Faculty002 = 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Tables Dropped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8214" y="1665475"/>
            <a:ext cx="15602855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Drop tables that are not needed for the analysis.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9145" y="2531821"/>
            <a:ext cx="7702220" cy="1406223"/>
            <a:chOff x="0" y="0"/>
            <a:chExt cx="10269626" cy="18749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31490" y="2745343"/>
            <a:ext cx="109814" cy="109814"/>
            <a:chOff x="0" y="0"/>
            <a:chExt cx="146418" cy="1464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06029" y="2635529"/>
            <a:ext cx="7233980" cy="1349797"/>
            <a:chOff x="0" y="0"/>
            <a:chExt cx="9645307" cy="17997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audit_log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52008" y="2531821"/>
            <a:ext cx="7702220" cy="1406223"/>
            <a:chOff x="0" y="0"/>
            <a:chExt cx="10269626" cy="18749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24362" y="2745343"/>
            <a:ext cx="109814" cy="109814"/>
            <a:chOff x="0" y="0"/>
            <a:chExt cx="146418" cy="146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98892" y="2635529"/>
            <a:ext cx="7233980" cy="1349797"/>
            <a:chOff x="0" y="0"/>
            <a:chExt cx="9645307" cy="1799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grade_events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9145" y="4087511"/>
            <a:ext cx="7702220" cy="1406223"/>
            <a:chOff x="0" y="0"/>
            <a:chExt cx="10269626" cy="18749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31490" y="4301042"/>
            <a:ext cx="109814" cy="109814"/>
            <a:chOff x="0" y="0"/>
            <a:chExt cx="146418" cy="1464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06029" y="4191229"/>
            <a:ext cx="7233980" cy="1349797"/>
            <a:chOff x="0" y="0"/>
            <a:chExt cx="9645307" cy="17997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project_members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52008" y="4087511"/>
            <a:ext cx="7702220" cy="1406223"/>
            <a:chOff x="0" y="0"/>
            <a:chExt cx="10269626" cy="18749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24362" y="4301042"/>
            <a:ext cx="109814" cy="109814"/>
            <a:chOff x="0" y="0"/>
            <a:chExt cx="146418" cy="1464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98892" y="4191229"/>
            <a:ext cx="7233980" cy="1349797"/>
            <a:chOff x="0" y="0"/>
            <a:chExt cx="9645307" cy="17997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publications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9145" y="5643210"/>
            <a:ext cx="7702220" cy="1406223"/>
            <a:chOff x="0" y="0"/>
            <a:chExt cx="10269626" cy="18749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31490" y="5856732"/>
            <a:ext cx="109814" cy="109814"/>
            <a:chOff x="0" y="0"/>
            <a:chExt cx="146418" cy="14641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06029" y="5746918"/>
            <a:ext cx="7233980" cy="1349797"/>
            <a:chOff x="0" y="0"/>
            <a:chExt cx="9645307" cy="17997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research_projects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52008" y="5643210"/>
            <a:ext cx="7702220" cy="1406223"/>
            <a:chOff x="0" y="0"/>
            <a:chExt cx="10269626" cy="18749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69728" cy="1875028"/>
            </a:xfrm>
            <a:custGeom>
              <a:avLst/>
              <a:gdLst/>
              <a:ahLst/>
              <a:cxnLst/>
              <a:rect r="r" b="b" t="t" l="l"/>
              <a:pathLst>
                <a:path h="1875028" w="10269728">
                  <a:moveTo>
                    <a:pt x="0" y="312547"/>
                  </a:moveTo>
                  <a:cubicBezTo>
                    <a:pt x="0" y="139954"/>
                    <a:pt x="139954" y="0"/>
                    <a:pt x="312547" y="0"/>
                  </a:cubicBezTo>
                  <a:lnTo>
                    <a:pt x="9957181" y="0"/>
                  </a:lnTo>
                  <a:cubicBezTo>
                    <a:pt x="10129775" y="0"/>
                    <a:pt x="10269728" y="139954"/>
                    <a:pt x="10269728" y="312547"/>
                  </a:cubicBezTo>
                  <a:lnTo>
                    <a:pt x="10269728" y="1562481"/>
                  </a:lnTo>
                  <a:cubicBezTo>
                    <a:pt x="10269728" y="1735074"/>
                    <a:pt x="10129775" y="1875028"/>
                    <a:pt x="9957181" y="1875028"/>
                  </a:cubicBezTo>
                  <a:lnTo>
                    <a:pt x="312547" y="1875028"/>
                  </a:lnTo>
                  <a:cubicBezTo>
                    <a:pt x="139954" y="1875028"/>
                    <a:pt x="0" y="1735074"/>
                    <a:pt x="0" y="1562481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224362" y="5856732"/>
            <a:ext cx="109814" cy="109814"/>
            <a:chOff x="0" y="0"/>
            <a:chExt cx="146418" cy="1464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498892" y="5746918"/>
            <a:ext cx="7233980" cy="1349797"/>
            <a:chOff x="0" y="0"/>
            <a:chExt cx="9645307" cy="17997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45311" cy="1799726"/>
            </a:xfrm>
            <a:custGeom>
              <a:avLst/>
              <a:gdLst/>
              <a:ahLst/>
              <a:cxnLst/>
              <a:rect r="r" b="b" t="t" l="l"/>
              <a:pathLst>
                <a:path h="1799726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799726"/>
                  </a:lnTo>
                  <a:lnTo>
                    <a:pt x="0" y="17997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426" r="0" b="-544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9645307" cy="180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course_prerequisites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58214" y="7664053"/>
            <a:ext cx="15602855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6 tables were removed because they were not needed for the analysis.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Tables Used for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9145" y="1845478"/>
            <a:ext cx="7702220" cy="1195749"/>
            <a:chOff x="0" y="0"/>
            <a:chExt cx="10269626" cy="1594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31490" y="2059010"/>
            <a:ext cx="109814" cy="109814"/>
            <a:chOff x="0" y="0"/>
            <a:chExt cx="146418" cy="1464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06029" y="1949196"/>
            <a:ext cx="7233980" cy="1139314"/>
            <a:chOff x="0" y="0"/>
            <a:chExt cx="9645307" cy="15190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courses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52008" y="1845478"/>
            <a:ext cx="7702220" cy="1195749"/>
            <a:chOff x="0" y="0"/>
            <a:chExt cx="10269626" cy="15943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24362" y="2059010"/>
            <a:ext cx="109814" cy="109814"/>
            <a:chOff x="0" y="0"/>
            <a:chExt cx="146418" cy="1464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98892" y="1949196"/>
            <a:ext cx="7233980" cy="1139314"/>
            <a:chOff x="0" y="0"/>
            <a:chExt cx="9645307" cy="1519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departments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9145" y="3190704"/>
            <a:ext cx="7702220" cy="1195749"/>
            <a:chOff x="0" y="0"/>
            <a:chExt cx="10269626" cy="15943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31490" y="3404225"/>
            <a:ext cx="109814" cy="109814"/>
            <a:chOff x="0" y="0"/>
            <a:chExt cx="146418" cy="1464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6029" y="3294412"/>
            <a:ext cx="7233980" cy="1139314"/>
            <a:chOff x="0" y="0"/>
            <a:chExt cx="9645307" cy="15190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enrollments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52008" y="3190704"/>
            <a:ext cx="7702220" cy="1195749"/>
            <a:chOff x="0" y="0"/>
            <a:chExt cx="10269626" cy="15943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224362" y="3404225"/>
            <a:ext cx="109814" cy="109814"/>
            <a:chOff x="0" y="0"/>
            <a:chExt cx="146418" cy="1464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98892" y="3294412"/>
            <a:ext cx="7233980" cy="1139314"/>
            <a:chOff x="0" y="0"/>
            <a:chExt cx="9645307" cy="15190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faculty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59145" y="4535919"/>
            <a:ext cx="7702220" cy="1195749"/>
            <a:chOff x="0" y="0"/>
            <a:chExt cx="10269626" cy="15943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31490" y="4749451"/>
            <a:ext cx="109814" cy="109814"/>
            <a:chOff x="0" y="0"/>
            <a:chExt cx="146418" cy="14641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06029" y="4639637"/>
            <a:ext cx="7233980" cy="1139314"/>
            <a:chOff x="0" y="0"/>
            <a:chExt cx="9645307" cy="151908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rooms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52008" y="4535919"/>
            <a:ext cx="7702220" cy="1195749"/>
            <a:chOff x="0" y="0"/>
            <a:chExt cx="10269626" cy="159433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224362" y="4749451"/>
            <a:ext cx="109814" cy="109814"/>
            <a:chOff x="0" y="0"/>
            <a:chExt cx="146418" cy="14641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98892" y="4639637"/>
            <a:ext cx="7233980" cy="1139314"/>
            <a:chOff x="0" y="0"/>
            <a:chExt cx="9645307" cy="151908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scholarships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59145" y="5881135"/>
            <a:ext cx="7702220" cy="1195749"/>
            <a:chOff x="0" y="0"/>
            <a:chExt cx="10269626" cy="159433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31490" y="6094666"/>
            <a:ext cx="109814" cy="109814"/>
            <a:chOff x="0" y="0"/>
            <a:chExt cx="146418" cy="1464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06029" y="5984853"/>
            <a:ext cx="7233980" cy="1139314"/>
            <a:chOff x="0" y="0"/>
            <a:chExt cx="9645307" cy="151908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sections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52008" y="5881135"/>
            <a:ext cx="7702220" cy="1195749"/>
            <a:chOff x="0" y="0"/>
            <a:chExt cx="10269626" cy="159433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224362" y="6094666"/>
            <a:ext cx="109814" cy="109814"/>
            <a:chOff x="0" y="0"/>
            <a:chExt cx="146418" cy="14641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498892" y="5984853"/>
            <a:ext cx="7233980" cy="1139314"/>
            <a:chOff x="0" y="0"/>
            <a:chExt cx="9645307" cy="15190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semesters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9145" y="7226360"/>
            <a:ext cx="7702220" cy="1195749"/>
            <a:chOff x="0" y="0"/>
            <a:chExt cx="10269626" cy="159433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31490" y="7439882"/>
            <a:ext cx="109814" cy="109814"/>
            <a:chOff x="0" y="0"/>
            <a:chExt cx="146418" cy="14641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606029" y="7330069"/>
            <a:ext cx="7233980" cy="1139314"/>
            <a:chOff x="0" y="0"/>
            <a:chExt cx="9645307" cy="151908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student_scholarships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52008" y="7226360"/>
            <a:ext cx="7702220" cy="1195749"/>
            <a:chOff x="0" y="0"/>
            <a:chExt cx="10269626" cy="159433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69601" cy="1594231"/>
            </a:xfrm>
            <a:custGeom>
              <a:avLst/>
              <a:gdLst/>
              <a:ahLst/>
              <a:cxnLst/>
              <a:rect r="r" b="b" t="t" l="l"/>
              <a:pathLst>
                <a:path h="1594231" w="10269601">
                  <a:moveTo>
                    <a:pt x="0" y="265684"/>
                  </a:moveTo>
                  <a:cubicBezTo>
                    <a:pt x="0" y="118999"/>
                    <a:pt x="118999" y="0"/>
                    <a:pt x="265684" y="0"/>
                  </a:cubicBezTo>
                  <a:lnTo>
                    <a:pt x="10003917" y="0"/>
                  </a:lnTo>
                  <a:cubicBezTo>
                    <a:pt x="10150729" y="0"/>
                    <a:pt x="10269601" y="118999"/>
                    <a:pt x="10269601" y="265684"/>
                  </a:cubicBezTo>
                  <a:lnTo>
                    <a:pt x="10269601" y="1328547"/>
                  </a:lnTo>
                  <a:cubicBezTo>
                    <a:pt x="10269601" y="1475359"/>
                    <a:pt x="10150602" y="1594231"/>
                    <a:pt x="10003917" y="1594231"/>
                  </a:cubicBezTo>
                  <a:lnTo>
                    <a:pt x="265684" y="1594231"/>
                  </a:lnTo>
                  <a:cubicBezTo>
                    <a:pt x="118999" y="1594358"/>
                    <a:pt x="0" y="1475359"/>
                    <a:pt x="0" y="1328547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224362" y="7439882"/>
            <a:ext cx="109814" cy="109814"/>
            <a:chOff x="0" y="0"/>
            <a:chExt cx="146418" cy="14641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431" cy="146431"/>
            </a:xfrm>
            <a:custGeom>
              <a:avLst/>
              <a:gdLst/>
              <a:ahLst/>
              <a:cxnLst/>
              <a:rect r="r" b="b" t="t" l="l"/>
              <a:pathLst>
                <a:path h="146431" w="146431">
                  <a:moveTo>
                    <a:pt x="0" y="24384"/>
                  </a:moveTo>
                  <a:cubicBezTo>
                    <a:pt x="0" y="10922"/>
                    <a:pt x="10922" y="0"/>
                    <a:pt x="24384" y="0"/>
                  </a:cubicBezTo>
                  <a:lnTo>
                    <a:pt x="122047" y="0"/>
                  </a:lnTo>
                  <a:cubicBezTo>
                    <a:pt x="135509" y="0"/>
                    <a:pt x="146431" y="10922"/>
                    <a:pt x="146431" y="24384"/>
                  </a:cubicBezTo>
                  <a:lnTo>
                    <a:pt x="146431" y="122047"/>
                  </a:lnTo>
                  <a:cubicBezTo>
                    <a:pt x="146431" y="135509"/>
                    <a:pt x="135509" y="146431"/>
                    <a:pt x="122047" y="146431"/>
                  </a:cubicBezTo>
                  <a:lnTo>
                    <a:pt x="24384" y="146431"/>
                  </a:lnTo>
                  <a:cubicBezTo>
                    <a:pt x="10922" y="146431"/>
                    <a:pt x="0" y="135509"/>
                    <a:pt x="0" y="122047"/>
                  </a:cubicBez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98892" y="7330069"/>
            <a:ext cx="7233980" cy="1139314"/>
            <a:chOff x="0" y="0"/>
            <a:chExt cx="9645307" cy="151908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45311" cy="1519091"/>
            </a:xfrm>
            <a:custGeom>
              <a:avLst/>
              <a:gdLst/>
              <a:ahLst/>
              <a:cxnLst/>
              <a:rect r="r" b="b" t="t" l="l"/>
              <a:pathLst>
                <a:path h="1519091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18" r="0" b="-7371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9645307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03040"/>
                  </a:solidFill>
                  <a:latin typeface="Aptos"/>
                  <a:ea typeface="Aptos"/>
                  <a:cs typeface="Aptos"/>
                  <a:sym typeface="Aptos"/>
                </a:rPr>
                <a:t>students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258214" y="8762190"/>
            <a:ext cx="1560285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EA497"/>
                </a:solidFill>
                <a:latin typeface="Aptos Bold"/>
                <a:ea typeface="Aptos Bold"/>
                <a:cs typeface="Aptos Bold"/>
                <a:sym typeface="Aptos Bold"/>
              </a:rPr>
              <a:t>10 analysis-ready tables remain.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Data Schema (2)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1433684"/>
            <a:ext cx="16418690" cy="8045386"/>
            <a:chOff x="0" y="0"/>
            <a:chExt cx="21891587" cy="107271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1625" cy="10727182"/>
            </a:xfrm>
            <a:custGeom>
              <a:avLst/>
              <a:gdLst/>
              <a:ahLst/>
              <a:cxnLst/>
              <a:rect r="r" b="b" t="t" l="l"/>
              <a:pathLst>
                <a:path h="10727182" w="21891625">
                  <a:moveTo>
                    <a:pt x="0" y="1787906"/>
                  </a:moveTo>
                  <a:cubicBezTo>
                    <a:pt x="0" y="800481"/>
                    <a:pt x="800481" y="0"/>
                    <a:pt x="1787906" y="0"/>
                  </a:cubicBezTo>
                  <a:lnTo>
                    <a:pt x="20103719" y="0"/>
                  </a:lnTo>
                  <a:cubicBezTo>
                    <a:pt x="21091144" y="0"/>
                    <a:pt x="21891625" y="800481"/>
                    <a:pt x="21891625" y="1787906"/>
                  </a:cubicBezTo>
                  <a:lnTo>
                    <a:pt x="21891625" y="8939276"/>
                  </a:lnTo>
                  <a:cubicBezTo>
                    <a:pt x="21891625" y="9926701"/>
                    <a:pt x="21091144" y="10727182"/>
                    <a:pt x="20103719" y="10727182"/>
                  </a:cubicBezTo>
                  <a:lnTo>
                    <a:pt x="1787906" y="10727182"/>
                  </a:lnTo>
                  <a:cubicBezTo>
                    <a:pt x="800481" y="10727182"/>
                    <a:pt x="0" y="9926701"/>
                    <a:pt x="0" y="893927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800068" y="1606029"/>
            <a:ext cx="6725041" cy="7700696"/>
            <a:chOff x="0" y="0"/>
            <a:chExt cx="8966721" cy="10267594"/>
          </a:xfrm>
        </p:grpSpPr>
        <p:sp>
          <p:nvSpPr>
            <p:cNvPr name="Freeform 11" id="11" descr="p-14_crop.png"/>
            <p:cNvSpPr/>
            <p:nvPr/>
          </p:nvSpPr>
          <p:spPr>
            <a:xfrm flipH="false" flipV="false" rot="0">
              <a:off x="0" y="0"/>
              <a:ext cx="8966708" cy="10267569"/>
            </a:xfrm>
            <a:custGeom>
              <a:avLst/>
              <a:gdLst/>
              <a:ahLst/>
              <a:cxnLst/>
              <a:rect r="r" b="b" t="t" l="l"/>
              <a:pathLst>
                <a:path h="10267569" w="8966708">
                  <a:moveTo>
                    <a:pt x="0" y="0"/>
                  </a:moveTo>
                  <a:lnTo>
                    <a:pt x="8966708" y="0"/>
                  </a:lnTo>
                  <a:lnTo>
                    <a:pt x="8966708" y="10267569"/>
                  </a:lnTo>
                  <a:lnTo>
                    <a:pt x="0" y="10267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University Project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One Big Table — Unified 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68028" y="1870253"/>
            <a:ext cx="15671482" cy="721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CREATE VIEW dbo.U_S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S.student_id,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S.student_number,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S.first_name AS student_first_name,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S.last_name AS student_last_name,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S.email,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S.department_id,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D.name AS department_name,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F.faculty_id,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F.first_name AS faculty_first_name,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F.last_name AS faculty_last_name,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C.course_id,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C.code AS course_code,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C.title AS course_title,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C.credits,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E.enrollment_id,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E.enrolled_at,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E.status AS enrollment_status,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E.final_grade,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   E.final_score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FROM dbo.students AS S;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11" y="535676"/>
            <a:ext cx="15191051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Power Query Result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3243" y="1433684"/>
            <a:ext cx="16418690" cy="8045386"/>
            <a:chOff x="0" y="0"/>
            <a:chExt cx="21891587" cy="107271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91625" cy="10727182"/>
            </a:xfrm>
            <a:custGeom>
              <a:avLst/>
              <a:gdLst/>
              <a:ahLst/>
              <a:cxnLst/>
              <a:rect r="r" b="b" t="t" l="l"/>
              <a:pathLst>
                <a:path h="10727182" w="21891625">
                  <a:moveTo>
                    <a:pt x="0" y="1787906"/>
                  </a:moveTo>
                  <a:cubicBezTo>
                    <a:pt x="0" y="800481"/>
                    <a:pt x="800481" y="0"/>
                    <a:pt x="1787906" y="0"/>
                  </a:cubicBezTo>
                  <a:lnTo>
                    <a:pt x="20103719" y="0"/>
                  </a:lnTo>
                  <a:cubicBezTo>
                    <a:pt x="21091144" y="0"/>
                    <a:pt x="21891625" y="800481"/>
                    <a:pt x="21891625" y="1787906"/>
                  </a:cubicBezTo>
                  <a:lnTo>
                    <a:pt x="21891625" y="8939276"/>
                  </a:lnTo>
                  <a:cubicBezTo>
                    <a:pt x="21891625" y="9926701"/>
                    <a:pt x="21091144" y="10727182"/>
                    <a:pt x="20103719" y="10727182"/>
                  </a:cubicBezTo>
                  <a:lnTo>
                    <a:pt x="1787906" y="10727182"/>
                  </a:lnTo>
                  <a:cubicBezTo>
                    <a:pt x="800481" y="10727182"/>
                    <a:pt x="0" y="9926701"/>
                    <a:pt x="0" y="893927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222518" y="1606029"/>
            <a:ext cx="9880130" cy="7700696"/>
            <a:chOff x="0" y="0"/>
            <a:chExt cx="13173507" cy="10267594"/>
          </a:xfrm>
        </p:grpSpPr>
        <p:sp>
          <p:nvSpPr>
            <p:cNvPr name="Freeform 11" id="11" descr="p-19_crop.png"/>
            <p:cNvSpPr/>
            <p:nvPr/>
          </p:nvSpPr>
          <p:spPr>
            <a:xfrm flipH="false" flipV="false" rot="0">
              <a:off x="0" y="0"/>
              <a:ext cx="13173456" cy="10267569"/>
            </a:xfrm>
            <a:custGeom>
              <a:avLst/>
              <a:gdLst/>
              <a:ahLst/>
              <a:cxnLst/>
              <a:rect r="r" b="b" t="t" l="l"/>
              <a:pathLst>
                <a:path h="10267569" w="13173456">
                  <a:moveTo>
                    <a:pt x="0" y="0"/>
                  </a:moveTo>
                  <a:lnTo>
                    <a:pt x="13173456" y="0"/>
                  </a:lnTo>
                  <a:lnTo>
                    <a:pt x="13173456" y="10267569"/>
                  </a:lnTo>
                  <a:lnTo>
                    <a:pt x="0" y="10267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Final Dataset / Power Query Result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371503" y="1785070"/>
            <a:ext cx="9703227" cy="6716860"/>
          </a:xfrm>
          <a:custGeom>
            <a:avLst/>
            <a:gdLst/>
            <a:ahLst/>
            <a:cxnLst/>
            <a:rect r="r" b="b" t="t" l="l"/>
            <a:pathLst>
              <a:path h="6716860" w="9703227">
                <a:moveTo>
                  <a:pt x="0" y="0"/>
                </a:moveTo>
                <a:lnTo>
                  <a:pt x="9703227" y="0"/>
                </a:lnTo>
                <a:lnTo>
                  <a:pt x="9703227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2" t="0" r="-110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Data Model Useing Power BI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6411" y="157856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blipFill>
              <a:blip r:embed="rId2"/>
              <a:stretch>
                <a:fillRect l="0" t="-9672" r="0" b="-9672"/>
              </a:stretch>
            </a:blip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Data Model Useing Power 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841678"/>
            <a:ext cx="15671482" cy="589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im_Date = CALENDAR(DATE(2019,1,1), DATE(2025,12,31))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DayNum = Day(Dim_Date[Date].[Date])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MonthName = FORMAT(Dim_Date[Date],"MMM")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MonthNum = MONTH(Dim_Date[Date].[Date])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Year = YEAR(Dim_Date[Date].[Date])</a:t>
            </a: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750692" y="3890761"/>
            <a:ext cx="5087355" cy="3668330"/>
          </a:xfrm>
          <a:custGeom>
            <a:avLst/>
            <a:gdLst/>
            <a:ahLst/>
            <a:cxnLst/>
            <a:rect r="r" b="b" t="t" l="l"/>
            <a:pathLst>
              <a:path h="3668330" w="5087355">
                <a:moveTo>
                  <a:pt x="0" y="0"/>
                </a:moveTo>
                <a:lnTo>
                  <a:pt x="5087355" y="0"/>
                </a:lnTo>
                <a:lnTo>
                  <a:pt x="5087355" y="3668330"/>
                </a:lnTo>
                <a:lnTo>
                  <a:pt x="0" y="366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Create Dim_Date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68028" y="1841678"/>
            <a:ext cx="15671482" cy="651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im_Date = CALENDAR(DATE(2019,1,1), DATE(2025,12,31))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DayNum = Day(Dim_Date[Date].[Date])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MonthName = FORMAT(Dim_Date[Date],"MMM")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MonthNum = MONTH(Dim_Date[Date].[Date])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Year = YEAR(Dim_Date[Date].[Date])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FF3131"/>
                </a:solidFill>
                <a:latin typeface="Consolas"/>
                <a:ea typeface="Consolas"/>
                <a:cs typeface="Consolas"/>
                <a:sym typeface="Consolas"/>
              </a:rPr>
              <a:t>Order Column ⟶ MonthName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12263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976">
                <a:solidFill>
                  <a:srgbClr val="FF3131"/>
                </a:solidFill>
                <a:latin typeface="Consolas"/>
                <a:ea typeface="Consolas"/>
                <a:cs typeface="Consolas"/>
                <a:sym typeface="Consolas"/>
              </a:rPr>
              <a:t>sort by column ---&gt; MonthNum</a:t>
            </a: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  <a:p>
            <a:pPr algn="l">
              <a:lnSpc>
                <a:spcPts val="285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782119" y="2595810"/>
            <a:ext cx="7257392" cy="4082283"/>
          </a:xfrm>
          <a:custGeom>
            <a:avLst/>
            <a:gdLst/>
            <a:ahLst/>
            <a:cxnLst/>
            <a:rect r="r" b="b" t="t" l="l"/>
            <a:pathLst>
              <a:path h="4082283" w="7257392">
                <a:moveTo>
                  <a:pt x="0" y="0"/>
                </a:moveTo>
                <a:lnTo>
                  <a:pt x="7257392" y="0"/>
                </a:lnTo>
                <a:lnTo>
                  <a:pt x="7257392" y="4082283"/>
                </a:lnTo>
                <a:lnTo>
                  <a:pt x="0" y="40822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Create Dim_Date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blipFill>
              <a:blip r:embed="rId2"/>
              <a:stretch>
                <a:fillRect l="0" t="-9672" r="0" b="-9672"/>
              </a:stretch>
            </a:blip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Data Model Useing Power 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F9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37265"/>
            <a:chOff x="0" y="0"/>
            <a:chExt cx="24402453" cy="1830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83007"/>
            </a:xfrm>
            <a:custGeom>
              <a:avLst/>
              <a:gdLst/>
              <a:ahLst/>
              <a:cxnLst/>
              <a:rect r="r" b="b" t="t" l="l"/>
              <a:pathLst>
                <a:path h="18300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83007"/>
                  </a:lnTo>
                  <a:lnTo>
                    <a:pt x="0" y="183007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615" y="1570949"/>
            <a:ext cx="16487318" cy="7770847"/>
            <a:chOff x="0" y="0"/>
            <a:chExt cx="21983090" cy="10361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83192" cy="10361168"/>
            </a:xfrm>
            <a:custGeom>
              <a:avLst/>
              <a:gdLst/>
              <a:ahLst/>
              <a:cxnLst/>
              <a:rect r="r" b="b" t="t" l="l"/>
              <a:pathLst>
                <a:path h="10361168" w="21983192">
                  <a:moveTo>
                    <a:pt x="0" y="1726946"/>
                  </a:moveTo>
                  <a:cubicBezTo>
                    <a:pt x="0" y="773176"/>
                    <a:pt x="773176" y="0"/>
                    <a:pt x="1726946" y="0"/>
                  </a:cubicBezTo>
                  <a:lnTo>
                    <a:pt x="20256246" y="0"/>
                  </a:lnTo>
                  <a:cubicBezTo>
                    <a:pt x="21210015" y="0"/>
                    <a:pt x="21983192" y="773176"/>
                    <a:pt x="21983192" y="1726946"/>
                  </a:cubicBezTo>
                  <a:lnTo>
                    <a:pt x="21983192" y="8634222"/>
                  </a:lnTo>
                  <a:cubicBezTo>
                    <a:pt x="21983192" y="9587992"/>
                    <a:pt x="21210015" y="10361168"/>
                    <a:pt x="20256246" y="10361168"/>
                  </a:cubicBezTo>
                  <a:lnTo>
                    <a:pt x="1726946" y="10361168"/>
                  </a:lnTo>
                  <a:cubicBezTo>
                    <a:pt x="773176" y="10361168"/>
                    <a:pt x="0" y="9587992"/>
                    <a:pt x="0" y="8634222"/>
                  </a:cubicBezTo>
                  <a:close/>
                </a:path>
              </a:pathLst>
            </a:custGeom>
            <a:solidFill>
              <a:srgbClr val="EBF8FF"/>
            </a:solidFill>
            <a:ln w="15252" cap="sq">
              <a:solidFill>
                <a:srgbClr val="D6E2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2235" y="1578569"/>
            <a:ext cx="96088" cy="7755598"/>
            <a:chOff x="0" y="0"/>
            <a:chExt cx="128118" cy="1034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10340848"/>
            </a:xfrm>
            <a:custGeom>
              <a:avLst/>
              <a:gdLst/>
              <a:ahLst/>
              <a:cxnLst/>
              <a:rect r="r" b="b" t="t" l="l"/>
              <a:pathLst>
                <a:path h="1034084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0340848"/>
                  </a:lnTo>
                  <a:lnTo>
                    <a:pt x="0" y="10340848"/>
                  </a:lnTo>
                  <a:close/>
                </a:path>
              </a:pathLst>
            </a:custGeom>
            <a:solidFill>
              <a:srgbClr val="0EA49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971" y="9718519"/>
            <a:ext cx="16746607" cy="13726"/>
            <a:chOff x="0" y="0"/>
            <a:chExt cx="22328810" cy="18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28760" cy="18288"/>
            </a:xfrm>
            <a:custGeom>
              <a:avLst/>
              <a:gdLst/>
              <a:ahLst/>
              <a:cxnLst/>
              <a:rect r="r" b="b" t="t" l="l"/>
              <a:pathLst>
                <a:path h="18288" w="22328760">
                  <a:moveTo>
                    <a:pt x="0" y="0"/>
                  </a:moveTo>
                  <a:lnTo>
                    <a:pt x="22328760" y="0"/>
                  </a:lnTo>
                  <a:lnTo>
                    <a:pt x="2232876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6E2E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66668" y="2256792"/>
            <a:ext cx="15061004" cy="6645668"/>
          </a:xfrm>
          <a:custGeom>
            <a:avLst/>
            <a:gdLst/>
            <a:ahLst/>
            <a:cxnLst/>
            <a:rect r="r" b="b" t="t" l="l"/>
            <a:pathLst>
              <a:path h="6645668" w="15061004">
                <a:moveTo>
                  <a:pt x="0" y="0"/>
                </a:moveTo>
                <a:lnTo>
                  <a:pt x="15061004" y="0"/>
                </a:lnTo>
                <a:lnTo>
                  <a:pt x="15061004" y="6645668"/>
                </a:lnTo>
                <a:lnTo>
                  <a:pt x="0" y="6645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46411" y="535676"/>
            <a:ext cx="1519105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b="true" sz="3302">
                <a:solidFill>
                  <a:srgbClr val="12263D"/>
                </a:solidFill>
                <a:latin typeface="Aptos Bold"/>
                <a:ea typeface="Aptos Bold"/>
                <a:cs typeface="Aptos Bold"/>
                <a:sym typeface="Aptos Bold"/>
              </a:rPr>
              <a:t>PivotTable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38047" y="455276"/>
            <a:ext cx="572091" cy="44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6411" y="9832877"/>
            <a:ext cx="668048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687989"/>
                </a:solidFill>
                <a:latin typeface="Aptos"/>
                <a:ea typeface="Aptos"/>
                <a:cs typeface="Aptos"/>
                <a:sym typeface="Aptos"/>
              </a:rPr>
              <a:t>Unified View / U_S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5200" y="550545"/>
            <a:ext cx="4206878" cy="54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Conclusion &amp; 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63800" y="532257"/>
            <a:ext cx="411480" cy="54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3247" y="-174622"/>
            <a:ext cx="18127980" cy="9587227"/>
            <a:chOff x="0" y="0"/>
            <a:chExt cx="24170640" cy="127829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70639" cy="12782931"/>
            </a:xfrm>
            <a:custGeom>
              <a:avLst/>
              <a:gdLst/>
              <a:ahLst/>
              <a:cxnLst/>
              <a:rect r="r" b="b" t="t" l="l"/>
              <a:pathLst>
                <a:path h="12782931" w="24170639">
                  <a:moveTo>
                    <a:pt x="0" y="2130552"/>
                  </a:moveTo>
                  <a:cubicBezTo>
                    <a:pt x="0" y="953897"/>
                    <a:pt x="953897" y="0"/>
                    <a:pt x="2130552" y="0"/>
                  </a:cubicBezTo>
                  <a:lnTo>
                    <a:pt x="22040087" y="0"/>
                  </a:lnTo>
                  <a:cubicBezTo>
                    <a:pt x="23216743" y="0"/>
                    <a:pt x="24170639" y="953897"/>
                    <a:pt x="24170639" y="2130552"/>
                  </a:cubicBezTo>
                  <a:lnTo>
                    <a:pt x="24170639" y="10652379"/>
                  </a:lnTo>
                  <a:cubicBezTo>
                    <a:pt x="24170639" y="11829035"/>
                    <a:pt x="23216743" y="12782931"/>
                    <a:pt x="22040087" y="12782931"/>
                  </a:cubicBezTo>
                  <a:lnTo>
                    <a:pt x="2130552" y="12782931"/>
                  </a:lnTo>
                  <a:cubicBezTo>
                    <a:pt x="953897" y="12782931"/>
                    <a:pt x="0" y="11829161"/>
                    <a:pt x="0" y="10652379"/>
                  </a:cubicBezTo>
                  <a:close/>
                </a:path>
              </a:pathLst>
            </a:custGeom>
            <a:solidFill>
              <a:srgbClr val="EBF7FC"/>
            </a:solidFill>
            <a:ln w="12700" cap="sq">
              <a:solidFill>
                <a:srgbClr val="CDDCE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69393" y="6180458"/>
            <a:ext cx="14820262" cy="151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These KPIs summarize the main dimensions of the university dataset before dashboard analysis.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94888" y="6833997"/>
            <a:ext cx="1689735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F7082"/>
                </a:solidFill>
                <a:latin typeface="Arial"/>
                <a:ea typeface="Arial"/>
                <a:cs typeface="Arial"/>
                <a:sym typeface="Arial"/>
              </a:rPr>
              <a:t>Unified View / U_S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7958" y="2016214"/>
            <a:ext cx="7017125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A5A5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7958" y="2546213"/>
            <a:ext cx="7017125" cy="110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The analysis transformed the university database into a clean, analysis-ready dataset and a unified view for Power BI. The results show a balanced student distribution, strong course scores around 80, and a 75% completed-enrollment rate.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77958" y="3496218"/>
            <a:ext cx="7017125" cy="36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A5A5"/>
                </a:solidFill>
                <a:latin typeface="Aptos Bold"/>
                <a:ea typeface="Aptos Bold"/>
                <a:cs typeface="Aptos Bold"/>
                <a:sym typeface="Aptos Bold"/>
              </a:rPr>
              <a:t>KEY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77958" y="3996214"/>
            <a:ext cx="7017125" cy="2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3752"/>
                </a:solidFill>
                <a:latin typeface="Aptos"/>
                <a:ea typeface="Aptos"/>
                <a:cs typeface="Aptos"/>
                <a:sym typeface="Aptos"/>
              </a:rPr>
              <a:t>• 2,000 students across 15 departments.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7958" y="4476217"/>
            <a:ext cx="7017125" cy="27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3752"/>
                </a:solidFill>
                <a:latin typeface="Aptos"/>
                <a:ea typeface="Aptos"/>
                <a:cs typeface="Aptos"/>
                <a:sym typeface="Aptos"/>
              </a:rPr>
              <a:t>• 200 courses are available across the departments.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78253" y="5003168"/>
            <a:ext cx="7017382" cy="70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F3752"/>
                </a:solidFill>
                <a:latin typeface="Aptos"/>
                <a:ea typeface="Aptos"/>
                <a:cs typeface="Aptos"/>
                <a:sym typeface="Aptos"/>
              </a:rPr>
              <a:t>• Top course averages are approximately 80 points.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3983" y="2010489"/>
            <a:ext cx="2517124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A5A5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27961" y="2596220"/>
            <a:ext cx="251712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3752"/>
                </a:solidFill>
                <a:latin typeface="Aptos Bold"/>
                <a:ea typeface="Aptos Bold"/>
                <a:cs typeface="Aptos Bold"/>
                <a:sym typeface="Aptos Bold"/>
              </a:rPr>
              <a:t>10 analysis-ready tables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3752"/>
                </a:solidFill>
                <a:latin typeface="Aptos Bold"/>
                <a:ea typeface="Aptos Bold"/>
                <a:cs typeface="Aptos Bold"/>
                <a:sym typeface="Aptos Bold"/>
              </a:rPr>
              <a:t>6 unnecessary tables removed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27961" y="3686689"/>
            <a:ext cx="2517124" cy="31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A5A5"/>
                </a:solidFill>
                <a:latin typeface="Aptos Bold"/>
                <a:ea typeface="Aptos Bold"/>
                <a:cs typeface="Aptos Bold"/>
                <a:sym typeface="Aptos Bold"/>
              </a:rPr>
              <a:t>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27961" y="4196220"/>
            <a:ext cx="2517124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3752"/>
                </a:solidFill>
                <a:latin typeface="Aptos Bold"/>
                <a:ea typeface="Aptos Bold"/>
                <a:cs typeface="Aptos Bold"/>
                <a:sym typeface="Aptos Bold"/>
              </a:rPr>
              <a:t>Average GPA: 2.51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3752"/>
                </a:solidFill>
                <a:latin typeface="Aptos Bold"/>
                <a:ea typeface="Aptos Bold"/>
                <a:cs typeface="Aptos Bold"/>
                <a:sym typeface="Aptos Bold"/>
              </a:rPr>
              <a:t>Completion Rate: 75%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424889" y="-116206"/>
            <a:ext cx="18804574" cy="10577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image7.jp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363780" y="9665913"/>
            <a:ext cx="503453" cy="30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DAHXERA9fxo</dc:identifier>
  <dcterms:modified xsi:type="dcterms:W3CDTF">2011-08-01T06:04:30Z</dcterms:modified>
  <cp:revision>1</cp:revision>
  <dc:title>Data Cleaning</dc:title>
</cp:coreProperties>
</file>